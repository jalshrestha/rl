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JetBrains Mono" panose="02000009000000000000" pitchFamily="49" charset="0"/>
      <p:regular r:id="rId14"/>
      <p:bold r:id="rId15"/>
      <p:italic r:id="rId16"/>
      <p:boldItalic r:id="rId17"/>
    </p:embeddedFont>
    <p:embeddedFont>
      <p:font typeface="Urbanist" panose="020B0A04040200000203" pitchFamily="34" charset="77"/>
      <p:regular r:id="rId18"/>
      <p:bold r:id="rId19"/>
      <p:italic r:id="rId20"/>
      <p:boldItalic r:id="rId21"/>
    </p:embeddedFont>
    <p:embeddedFont>
      <p:font typeface="Urbanist SemiBold" panose="020B0A04040200000203" pitchFamily="34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2"/>
  </p:normalViewPr>
  <p:slideViewPr>
    <p:cSldViewPr snapToGrid="0">
      <p:cViewPr varScale="1">
        <p:scale>
          <a:sx n="122" d="100"/>
          <a:sy n="122" d="100"/>
        </p:scale>
        <p:origin x="22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36FDq8JN8Q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mpXS4WztDs4" TargetMode="External"/><Relationship Id="rId4" Type="http://schemas.openxmlformats.org/officeDocument/2006/relationships/image" Target="../media/image3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1606004"/>
            <a:ext cx="8572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CSC 425 • ARTIFICIAL INTELLIGENCE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95437" y="2040284"/>
            <a:ext cx="90011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Autonomous 2D Car Racing Using PPO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850034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From Randomness to Racing: A Reinforcement Learning Journey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619750" y="4596705"/>
            <a:ext cx="95250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809750" y="4987230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Student Name: Jaljala Shrestha Lama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366295"/>
            <a:ext cx="457200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762000"/>
            <a:ext cx="480060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42975" y="5509170"/>
            <a:ext cx="42481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"Goal: Competent driving purely through trial and error over 500,000+ timesteps."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162684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OBJECTIVES &amp; SCOPE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1948755"/>
            <a:ext cx="4572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Develop a PPO agent to autonomously navigate the </a:t>
            </a:r>
            <a:r>
              <a:rPr lang="en-US" sz="150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Car Racing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-</a:t>
            </a:r>
            <a:r>
              <a:rPr lang="en-US" sz="150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2d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using only raw pixel inputs (96x96 RGB). The scope involves training a model without scripted rules to optimize speed and safety.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53943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BACKGROUND &amp; CONTEXT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3861345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Car racing requires continuous control (steering, gas, brake) in a high-dimensional state space. Traditional rule-based systems are rigid; this project explores Deep Reinforcement Learning as an adaptive solution.</a:t>
            </a:r>
            <a:endParaRPr/>
          </a:p>
        </p:txBody>
      </p:sp>
      <p:pic>
        <p:nvPicPr>
          <p:cNvPr id="104" name="Google Shape;104;p14" title="car_racing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950" y="504275"/>
            <a:ext cx="5715000" cy="54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6250" y="1895475"/>
            <a:ext cx="5600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Proximal Policy Optimization (PPO)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6250" y="2379315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 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selected PPO for its stability in continuous control tasks. It optimizes a surrogate objective function to ensure safe policy updates.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344611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Actor-Critic: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Two networks: Actor (Decides Action) &amp; Critic (Estimates Value).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424621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Clipped Objective: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Limits how much the policy can change, preventing catastrophic forgetting.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504631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Advantage Estimation: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Uses GAE (Lambda 0.95) to reduce variance in learning.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Methodology: AI Approach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350326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430336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510346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diagram of a robot&#10;&#10;AI-generated content may be incorrect.">
            <a:extLst>
              <a:ext uri="{FF2B5EF4-FFF2-40B4-BE49-F238E27FC236}">
                <a16:creationId xmlns:a16="http://schemas.microsoft.com/office/drawing/2014/main" id="{ABBD058E-A0FD-A5B7-EC06-2B0583C98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351" y="1297038"/>
            <a:ext cx="5049547" cy="44124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43200"/>
            <a:ext cx="5334000" cy="1112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17352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98427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79502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860577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5841652"/>
            <a:ext cx="53340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76250" y="1459259"/>
            <a:ext cx="5600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Dataset: Dynamic Generation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76250" y="19431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 was generated interactively through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8 Parallel Environments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to accelerate experience collection.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76250" y="4046041"/>
            <a:ext cx="5600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Techniques &amp; Tools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1433512"/>
            <a:ext cx="5600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6750" y="2933700"/>
            <a:ext cx="4953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Input:</a:t>
            </a:r>
            <a:r>
              <a:rPr lang="en-US" sz="1200" b="0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96x96x3 RGB Image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Processed:</a:t>
            </a:r>
            <a:r>
              <a:rPr lang="en-US" sz="1200" b="0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96x96x12 (4 Stacked Frames)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Steps:</a:t>
            </a:r>
            <a:r>
              <a:rPr lang="en-US" sz="1200" b="0" i="0" u="none" strike="noStrike" cap="none">
                <a:solidFill>
                  <a:srgbClr val="A7F3D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507,904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4491781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Gymnasium: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CarRacing-v3 Environment.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987081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Accelerated training (~82 steps/sec).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5482381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Reward Shaping: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Added penalties for grass to guide learning.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8991600" y="2526952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991600" y="3508027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991600" y="4489102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991600" y="5470177"/>
            <a:ext cx="114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Methodology: Dataset &amp; Tools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454893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504423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5539531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84177"/>
            <a:ext cx="2595562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0187" y="3184177"/>
            <a:ext cx="2595562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184302"/>
            <a:ext cx="2595562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20187" y="4184302"/>
            <a:ext cx="2595562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381750" y="2700337"/>
            <a:ext cx="5600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Network &amp; Hyperparameters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524625" y="3327052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Learning Rate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24625" y="3488977"/>
            <a:ext cx="23098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3e-4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24625" y="3765202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Linear Decay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263062" y="3327052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Batch Size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263062" y="3488977"/>
            <a:ext cx="23098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256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24625" y="4327177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Steps per Update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24625" y="4489102"/>
            <a:ext cx="23098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2048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263062" y="4327177"/>
            <a:ext cx="230981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Total Timesteps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263062" y="4489102"/>
            <a:ext cx="23098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507k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263062" y="4765327"/>
            <a:ext cx="230981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~104 Minutes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Configuration Details</a:t>
            </a:r>
            <a:endParaRPr/>
          </a:p>
        </p:txBody>
      </p:sp>
      <p:pic>
        <p:nvPicPr>
          <p:cNvPr id="3" name="Picture 2" descr="A diagram of a diagram of maps&#10;&#10;AI-generated content may be incorrect.">
            <a:extLst>
              <a:ext uri="{FF2B5EF4-FFF2-40B4-BE49-F238E27FC236}">
                <a16:creationId xmlns:a16="http://schemas.microsoft.com/office/drawing/2014/main" id="{15BA5E20-42DB-A3A9-2312-3E0C26FA7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369" y="2096086"/>
            <a:ext cx="5752889" cy="2802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49089"/>
            <a:ext cx="112395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573339"/>
            <a:ext cx="3619500" cy="21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0" y="4573339"/>
            <a:ext cx="3619500" cy="211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0" y="4573339"/>
            <a:ext cx="3619500" cy="211961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71525" y="5071169"/>
            <a:ext cx="99012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Breakthrough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71525" y="5645199"/>
            <a:ext cx="3028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At 135k steps, reward jumped from -32 to +353.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581525" y="5071169"/>
            <a:ext cx="36004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Peak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581525" y="5645199"/>
            <a:ext cx="3028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Best checkpoint: </a:t>
            </a: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798.63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at 425k steps.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391525" y="5071169"/>
            <a:ext cx="93011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Degradation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391525" y="5645199"/>
            <a:ext cx="3028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Late training drop due to "Grass-Stopping".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476250" y="165199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Results: Training Progression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76250" y="1551533"/>
            <a:ext cx="11239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Performance statistics across 30 random test tracks: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76250" y="2694533"/>
            <a:ext cx="585594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76250" y="3232695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332190" y="3232695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76250" y="3756570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332190" y="3756570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76250" y="4280445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332190" y="4280445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76250" y="4804320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332190" y="4804320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76250" y="5328195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6332190" y="5328195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476250" y="5852070"/>
            <a:ext cx="5855940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332190" y="5852070"/>
            <a:ext cx="5383559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Results: Detailed Metrics</a:t>
            </a:r>
            <a:endParaRPr/>
          </a:p>
        </p:txBody>
      </p:sp>
      <p:pic>
        <p:nvPicPr>
          <p:cNvPr id="211" name="Google Shape;211;p19" title="Screenshot 2025-12-07 at 4.47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50" y="2136875"/>
            <a:ext cx="11160850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793652"/>
            <a:ext cx="1793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76250" y="2060227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Visualizing 30-Episode Test Batch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9816405" y="2345977"/>
            <a:ext cx="189934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■ Excellent</a:t>
            </a:r>
            <a:r>
              <a:rPr lang="en-US" sz="105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■ Fair/Good</a:t>
            </a:r>
            <a:r>
              <a:rPr lang="en-US" sz="105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050" b="0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■ Poor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2365325" y="2793652"/>
            <a:ext cx="17938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2365325" y="2793652"/>
            <a:ext cx="1793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879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4254400" y="2793652"/>
            <a:ext cx="17938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254400" y="2793652"/>
            <a:ext cx="1793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864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6143476" y="2793652"/>
            <a:ext cx="1793974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143476" y="2793652"/>
            <a:ext cx="179397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880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8032700" y="2793652"/>
            <a:ext cx="1793825" cy="5715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8032700" y="2793652"/>
            <a:ext cx="1793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52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9921775" y="2793652"/>
            <a:ext cx="1793825" cy="5715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9921775" y="2793652"/>
            <a:ext cx="1793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405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476250" y="3460402"/>
            <a:ext cx="1793825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476250" y="346040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44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2365325" y="346040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365325" y="346040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443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4254400" y="346040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254400" y="346040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280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6143476" y="3460402"/>
            <a:ext cx="1793974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143476" y="3460402"/>
            <a:ext cx="179397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451</a:t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8032700" y="3460402"/>
            <a:ext cx="1793825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8032700" y="346040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879</a:t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9921775" y="346040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9921775" y="346040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458</a:t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476250" y="3736627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76250" y="373662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353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2365325" y="3736627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2365325" y="373662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493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254400" y="3736627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254400" y="373662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323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6143476" y="3736627"/>
            <a:ext cx="1793974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143476" y="3736627"/>
            <a:ext cx="179397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430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8032700" y="3736627"/>
            <a:ext cx="1793825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8032700" y="373662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85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9921775" y="3736627"/>
            <a:ext cx="1793825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9921775" y="373662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657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476250" y="401285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76250" y="401285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507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2365325" y="401285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2365325" y="401285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254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4254400" y="4012852"/>
            <a:ext cx="1793825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4254400" y="401285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28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6143476" y="4012852"/>
            <a:ext cx="1793974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6143476" y="4012852"/>
            <a:ext cx="179397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58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8032700" y="4012852"/>
            <a:ext cx="1793825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8032700" y="401285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89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9921775" y="4012852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9921775" y="4012852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430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476250" y="4289077"/>
            <a:ext cx="1793825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76250" y="428907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888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2365325" y="4289077"/>
            <a:ext cx="1793825" cy="180975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2365325" y="428907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275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4254400" y="4289077"/>
            <a:ext cx="1793825" cy="180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254400" y="428907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72</a:t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6143476" y="4289077"/>
            <a:ext cx="1793974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6143476" y="4289077"/>
            <a:ext cx="179397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873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8032700" y="4289077"/>
            <a:ext cx="1793825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032700" y="428907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849</a:t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9921775" y="4289077"/>
            <a:ext cx="1793825" cy="1809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9921775" y="4289077"/>
            <a:ext cx="17938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894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657225" y="4755802"/>
            <a:ext cx="115347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"Grass-Stopping" Phenomenon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657225" y="5089177"/>
            <a:ext cx="11058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Finding: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Episodes with low scores (&lt;100) occurred because the agent learned to </a:t>
            </a:r>
            <a:r>
              <a:rPr lang="en-US" sz="1200" b="0" i="1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stop completely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when touching grass.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657225" y="5485358"/>
            <a:ext cx="11058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Implication: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This is a classic case of </a:t>
            </a: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Reward Hacking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. The agent optimized the penalty (minimizing time on grass) by freezing, rather than learning recovery.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Analysis: Bimodal Performance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495300" y="1740169"/>
            <a:ext cx="56007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Fully Trained</a:t>
            </a:r>
            <a:endParaRPr dirty="0"/>
          </a:p>
        </p:txBody>
      </p:sp>
      <p:sp>
        <p:nvSpPr>
          <p:cNvPr id="295" name="Google Shape;295;p21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Project Demonstration</a:t>
            </a:r>
            <a:endParaRPr dirty="0"/>
          </a:p>
        </p:txBody>
      </p:sp>
      <p:sp>
        <p:nvSpPr>
          <p:cNvPr id="290" name="Google Shape;290;p21"/>
          <p:cNvSpPr txBox="1"/>
          <p:nvPr/>
        </p:nvSpPr>
        <p:spPr>
          <a:xfrm>
            <a:off x="6772275" y="2638425"/>
            <a:ext cx="4780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9B59C-616A-60FC-7A03-706D924DB8F0}"/>
              </a:ext>
            </a:extLst>
          </p:cNvPr>
          <p:cNvSpPr txBox="1"/>
          <p:nvPr/>
        </p:nvSpPr>
        <p:spPr>
          <a:xfrm>
            <a:off x="6772275" y="1570892"/>
            <a:ext cx="31454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chemeClr val="bg1"/>
                </a:solidFill>
              </a:rPr>
              <a:t>Partial Trained</a:t>
            </a:r>
          </a:p>
        </p:txBody>
      </p:sp>
      <p:sp>
        <p:nvSpPr>
          <p:cNvPr id="293" name="Google Shape;293;p21"/>
          <p:cNvSpPr txBox="1"/>
          <p:nvPr/>
        </p:nvSpPr>
        <p:spPr>
          <a:xfrm>
            <a:off x="6772275" y="4303365"/>
            <a:ext cx="455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6772275" y="4846290"/>
            <a:ext cx="455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FD2C698C-37EE-32A2-FB08-F49898415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24" y="2853824"/>
            <a:ext cx="4780499" cy="3186999"/>
          </a:xfrm>
          <a:prstGeom prst="rect">
            <a:avLst/>
          </a:prstGeom>
        </p:spPr>
      </p:pic>
      <p:pic>
        <p:nvPicPr>
          <p:cNvPr id="9" name="Picture 8">
            <a:hlinkClick r:id="rId5"/>
            <a:extLst>
              <a:ext uri="{FF2B5EF4-FFF2-40B4-BE49-F238E27FC236}">
                <a16:creationId xmlns:a16="http://schemas.microsoft.com/office/drawing/2014/main" id="{BB69917A-8F91-DB00-B532-1109DB689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5" y="2746125"/>
            <a:ext cx="4780499" cy="3186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33625"/>
            <a:ext cx="3555950" cy="307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33625"/>
            <a:ext cx="3555950" cy="307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333625"/>
            <a:ext cx="3556099" cy="307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pic>
        <p:nvPicPr>
          <p:cNvPr id="305" name="Google Shape;30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6289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771525" y="3124200"/>
            <a:ext cx="158019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Key Findings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771525" y="3750915"/>
            <a:ext cx="29655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Parallel training (8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envs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) &amp; Frame Stacking (4 frames) enabled </a:t>
            </a:r>
            <a:r>
              <a:rPr lang="en-US" sz="1500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17%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faster throughput and essential velocity perception.</a:t>
            </a:r>
            <a:endParaRPr dirty="0"/>
          </a:p>
        </p:txBody>
      </p:sp>
      <p:pic>
        <p:nvPicPr>
          <p:cNvPr id="308" name="Google Shape;30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6289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2"/>
          <p:cNvSpPr txBox="1"/>
          <p:nvPr/>
        </p:nvSpPr>
        <p:spPr>
          <a:xfrm>
            <a:off x="4613225" y="3124200"/>
            <a:ext cx="209026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Reward Hacking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4613225" y="3750915"/>
            <a:ext cx="2965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The "Grass-Stopping" behavior highlights the danger of </a:t>
            </a:r>
            <a:r>
              <a:rPr lang="en-US" sz="1500" b="0" i="0" u="none" strike="noStrike" cap="none" dirty="0" err="1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misspecified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auxiliary rewards in RL.</a:t>
            </a:r>
            <a:endParaRPr dirty="0"/>
          </a:p>
        </p:txBody>
      </p:sp>
      <p:pic>
        <p:nvPicPr>
          <p:cNvPr id="311" name="Google Shape;31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262890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8454925" y="3124200"/>
            <a:ext cx="152019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5E7EB"/>
                </a:solidFill>
                <a:latin typeface="Urbanist"/>
                <a:ea typeface="Urbanist"/>
                <a:cs typeface="Urbanist"/>
                <a:sym typeface="Urbanist"/>
              </a:rPr>
              <a:t>Future Work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8454925" y="3750915"/>
            <a:ext cx="2965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Redesign reward shaping to penalize lack of velocity and implement curriculum learning.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476250" y="476250"/>
            <a:ext cx="117157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Conclusion &amp; Implications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9658350" y="6410325"/>
            <a:ext cx="2057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B5563"/>
                </a:solidFill>
                <a:latin typeface="Urbanist"/>
                <a:ea typeface="Urbanist"/>
                <a:cs typeface="Urbanist"/>
                <a:sym typeface="Urbanist"/>
              </a:rPr>
              <a:t>CSC 425 - Milestone 3 Final Report</a:t>
            </a:r>
            <a:endParaRPr/>
          </a:p>
        </p:txBody>
      </p:sp>
      <p:pic>
        <p:nvPicPr>
          <p:cNvPr id="321" name="Google Shape;32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38325"/>
            <a:ext cx="11239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 txBox="1"/>
          <p:nvPr/>
        </p:nvSpPr>
        <p:spPr>
          <a:xfrm>
            <a:off x="238125" y="2886075"/>
            <a:ext cx="117157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476250" y="4391025"/>
            <a:ext cx="11239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Project: Autonomous 2D Car Racing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 Student: Jaljala Shrestha Lama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B7280"/>
                </a:solidFill>
                <a:latin typeface="Urbanist"/>
                <a:ea typeface="Urbanist"/>
                <a:cs typeface="Urbanist"/>
                <a:sym typeface="Urbanist"/>
              </a:rPr>
              <a:t> Course: CSC 425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Macintosh PowerPoint</Application>
  <PresentationFormat>Widescreen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Urbanist SemiBold</vt:lpstr>
      <vt:lpstr>JetBrains Mono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Jaljala Shrestha Lama</cp:lastModifiedBy>
  <cp:revision>1</cp:revision>
  <dcterms:modified xsi:type="dcterms:W3CDTF">2025-12-07T23:51:07Z</dcterms:modified>
</cp:coreProperties>
</file>